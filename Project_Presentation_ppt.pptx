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4" r:id="rId5"/>
    <p:sldId id="285" r:id="rId6"/>
    <p:sldId id="279" r:id="rId7"/>
    <p:sldId id="262" r:id="rId8"/>
    <p:sldId id="287" r:id="rId9"/>
    <p:sldId id="264" r:id="rId10"/>
    <p:sldId id="286" r:id="rId11"/>
    <p:sldId id="277" r:id="rId12"/>
    <p:sldId id="280"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F01A5FE1-83F7-4C05-991E-23399E8A38CD}">
          <p14:sldIdLst>
            <p14:sldId id="283"/>
            <p14:sldId id="257"/>
            <p14:sldId id="282"/>
            <p14:sldId id="284"/>
            <p14:sldId id="285"/>
            <p14:sldId id="279"/>
          </p14:sldIdLst>
        </p14:section>
        <p14:section name="Untitled Section" id="{68ABDF1F-9E68-470E-ACA7-2E73C8C88D8C}">
          <p14:sldIdLst>
            <p14:sldId id="262"/>
            <p14:sldId id="287"/>
            <p14:sldId id="264"/>
            <p14:sldId id="286"/>
            <p14:sldId id="277"/>
            <p14:sldId id="280"/>
            <p14:sldId id="276"/>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69261083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dirty="0"/>
                        <a:t>Vijay kumar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US" dirty="0"/>
                        <a:t>kumarvijaykvn9@gmail.com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IN" dirty="0"/>
                        <a:t>9315818659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College Admission Agent ( RAG Based )</a:t>
            </a:r>
            <a:endParaRPr lang="en-IN" sz="2400" b="1" dirty="0">
              <a:highlight>
                <a:srgbClr val="FFFF00"/>
              </a:highlight>
            </a:endParaRPr>
          </a:p>
        </p:txBody>
      </p:sp>
      <p:pic>
        <p:nvPicPr>
          <p:cNvPr id="3" name="Picture 2">
            <a:extLst>
              <a:ext uri="{FF2B5EF4-FFF2-40B4-BE49-F238E27FC236}">
                <a16:creationId xmlns:a16="http://schemas.microsoft.com/office/drawing/2014/main" id="{1AD6D6C0-F367-7D2E-F385-F4B389CED1F2}"/>
              </a:ext>
            </a:extLst>
          </p:cNvPr>
          <p:cNvPicPr>
            <a:picLocks noChangeAspect="1"/>
          </p:cNvPicPr>
          <p:nvPr/>
        </p:nvPicPr>
        <p:blipFill>
          <a:blip r:embed="rId3"/>
          <a:srcRect l="5269" t="26059" r="12723" b="4458"/>
          <a:stretch>
            <a:fillRect/>
          </a:stretch>
        </p:blipFill>
        <p:spPr>
          <a:xfrm>
            <a:off x="4129549" y="3634473"/>
            <a:ext cx="1002891" cy="11329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1" y="1234440"/>
            <a:ext cx="11065323" cy="4832092"/>
          </a:xfrm>
          <a:prstGeom prst="rect">
            <a:avLst/>
          </a:prstGeom>
          <a:noFill/>
        </p:spPr>
        <p:txBody>
          <a:bodyPr wrap="square" rtlCol="0">
            <a:spAutoFit/>
          </a:bodyPr>
          <a:lstStyle/>
          <a:p>
            <a:pPr fontAlgn="base"/>
            <a:r>
              <a:rPr lang="en-US" b="1" dirty="0"/>
              <a:t>Problem Statement : </a:t>
            </a:r>
            <a:r>
              <a:rPr lang="en-IN" b="1" dirty="0"/>
              <a:t>College Admission Agent</a:t>
            </a:r>
            <a:endParaRPr lang="en-US" b="1" dirty="0"/>
          </a:p>
          <a:p>
            <a:pPr fontAlgn="base"/>
            <a:endParaRPr lang="en-US" b="1" dirty="0"/>
          </a:p>
          <a:p>
            <a:pPr fontAlgn="base"/>
            <a:r>
              <a:rPr lang="en-US" b="1" dirty="0"/>
              <a:t>The Challenge</a:t>
            </a:r>
            <a:r>
              <a:rPr lang="en-US" dirty="0"/>
              <a:t> </a:t>
            </a:r>
          </a:p>
          <a:p>
            <a:pPr fontAlgn="base"/>
            <a:r>
              <a:rPr lang="en-US" dirty="0"/>
              <a:t>Choosing the right college is difficult because students must compare </a:t>
            </a:r>
            <a:r>
              <a:rPr lang="en-US" b="1" dirty="0"/>
              <a:t>institute brochures, counselling rules, cutoff trends, fee structures, and eligibility criteria</a:t>
            </a:r>
            <a:r>
              <a:rPr lang="en-US" dirty="0"/>
              <a:t> across many sources. This information is often scattered, inconsistent, and difficult to interpret. Without </a:t>
            </a:r>
            <a:r>
              <a:rPr lang="en-US" b="1" dirty="0"/>
              <a:t>personalized, data-backed guidance</a:t>
            </a:r>
            <a:r>
              <a:rPr lang="en-US" dirty="0"/>
              <a:t>, students may miss suitable colleges, misunderstand admission chances, or make decisions without knowing the actual fee and cutoff details.</a:t>
            </a:r>
          </a:p>
          <a:p>
            <a:pPr fontAlgn="base"/>
            <a:endParaRPr lang="en-US" dirty="0"/>
          </a:p>
          <a:p>
            <a:pPr fontAlgn="base"/>
            <a:r>
              <a:rPr lang="en-US" b="1" dirty="0"/>
              <a:t>The Objective</a:t>
            </a:r>
            <a:r>
              <a:rPr lang="en-US" dirty="0"/>
              <a:t> </a:t>
            </a:r>
          </a:p>
          <a:p>
            <a:pPr fontAlgn="base"/>
            <a:r>
              <a:rPr lang="en-US" dirty="0"/>
              <a:t>Build an </a:t>
            </a:r>
            <a:r>
              <a:rPr lang="en-US" b="1" dirty="0"/>
              <a:t>AI-powered College Admission Agent</a:t>
            </a:r>
            <a:r>
              <a:rPr lang="en-US" dirty="0"/>
              <a:t> that provides </a:t>
            </a:r>
            <a:r>
              <a:rPr lang="en-US" b="1" dirty="0"/>
              <a:t>personalized admission insights and guidance</a:t>
            </a:r>
            <a:r>
              <a:rPr lang="en-US" dirty="0"/>
              <a:t> for students, parents, and counsellors. The solution should:</a:t>
            </a:r>
          </a:p>
          <a:p>
            <a:pPr fontAlgn="base"/>
            <a:r>
              <a:rPr lang="en-US" dirty="0"/>
              <a:t>• </a:t>
            </a:r>
            <a:r>
              <a:rPr lang="en-US" b="1" dirty="0"/>
              <a:t>Personalized College Shortlisting</a:t>
            </a:r>
            <a:r>
              <a:rPr lang="en-US" dirty="0"/>
              <a:t> – Recommend colleges based on rank, marks, category, stream, location, budget, and preferences.</a:t>
            </a:r>
            <a:br>
              <a:rPr lang="en-US" dirty="0"/>
            </a:br>
            <a:r>
              <a:rPr lang="en-US" dirty="0"/>
              <a:t>• </a:t>
            </a:r>
            <a:r>
              <a:rPr lang="en-US" b="1" dirty="0"/>
              <a:t>Admission Data RAG Retrieval</a:t>
            </a:r>
            <a:r>
              <a:rPr lang="en-US" dirty="0"/>
              <a:t> – Fetch and summarize cutoff, fee, eligibility, and counselling details from trusted brochures and documents.</a:t>
            </a:r>
            <a:br>
              <a:rPr lang="en-US" dirty="0"/>
            </a:br>
            <a:r>
              <a:rPr lang="en-US" dirty="0"/>
              <a:t>• </a:t>
            </a:r>
            <a:r>
              <a:rPr lang="en-US" b="1" dirty="0"/>
              <a:t>College Comparison &amp; Guidance</a:t>
            </a:r>
            <a:r>
              <a:rPr lang="en-US" dirty="0"/>
              <a:t> – Compare institutes across branch availability, fees, placements, and admission chances.</a:t>
            </a:r>
            <a:br>
              <a:rPr lang="en-US" dirty="0"/>
            </a:br>
            <a:r>
              <a:rPr lang="en-US" dirty="0"/>
              <a:t>• </a:t>
            </a:r>
            <a:r>
              <a:rPr lang="en-US" b="1" dirty="0"/>
              <a:t>Counselling Support</a:t>
            </a:r>
            <a:r>
              <a:rPr lang="en-US" dirty="0"/>
              <a:t> – Assist with round-wise cutoff trends, seat availability, and admission strategy.</a:t>
            </a:r>
            <a:br>
              <a:rPr lang="en-US" dirty="0"/>
            </a:br>
            <a:r>
              <a:rPr lang="en-US" dirty="0"/>
              <a:t>• </a:t>
            </a:r>
            <a:r>
              <a:rPr lang="en-US" b="1" dirty="0"/>
              <a:t>Multi-Agent System</a:t>
            </a:r>
            <a:r>
              <a:rPr lang="en-US" dirty="0"/>
              <a:t> –</a:t>
            </a:r>
            <a:br>
              <a:rPr lang="en-US" dirty="0"/>
            </a:br>
            <a:r>
              <a:rPr lang="en-US" dirty="0"/>
              <a:t>• </a:t>
            </a:r>
            <a:r>
              <a:rPr lang="en-US" b="1" dirty="0"/>
              <a:t>Institute Knowledge Agent</a:t>
            </a:r>
            <a:r>
              <a:rPr lang="en-US" dirty="0"/>
              <a:t> (retrieves brochure and admission data)</a:t>
            </a:r>
            <a:br>
              <a:rPr lang="en-US" dirty="0"/>
            </a:br>
            <a:r>
              <a:rPr lang="en-US" dirty="0"/>
              <a:t>• </a:t>
            </a:r>
            <a:r>
              <a:rPr lang="en-US" b="1" dirty="0"/>
              <a:t>College Recommendation Agent</a:t>
            </a:r>
            <a:r>
              <a:rPr lang="en-US" dirty="0"/>
              <a:t> (shortlists suitable institutes)</a:t>
            </a:r>
            <a:br>
              <a:rPr lang="en-US" dirty="0"/>
            </a:br>
            <a:r>
              <a:rPr lang="en-US" dirty="0"/>
              <a:t>• </a:t>
            </a:r>
            <a:r>
              <a:rPr lang="en-US" b="1" dirty="0"/>
              <a:t>Admission Advisory Agent</a:t>
            </a:r>
            <a:r>
              <a:rPr lang="en-US" dirty="0"/>
              <a:t> (explains eligibility and counselling options)</a:t>
            </a:r>
            <a:br>
              <a:rPr lang="en-US" dirty="0"/>
            </a:br>
            <a:r>
              <a:rPr lang="en-US" dirty="0"/>
              <a:t>• </a:t>
            </a:r>
            <a:r>
              <a:rPr lang="en-US" b="1" dirty="0"/>
              <a:t>Document Query Agent</a:t>
            </a:r>
            <a:r>
              <a:rPr lang="en-US" dirty="0"/>
              <a:t> (answers brochure-based questions)</a:t>
            </a:r>
            <a:br>
              <a:rPr lang="en-US" dirty="0"/>
            </a:br>
            <a:r>
              <a:rPr lang="en-US" dirty="0"/>
              <a:t>• </a:t>
            </a:r>
            <a:r>
              <a:rPr lang="en-US" b="1" dirty="0"/>
              <a:t>Visualization Dashboard</a:t>
            </a:r>
            <a:r>
              <a:rPr lang="en-US" dirty="0"/>
              <a:t> – Show shortlist, cutoff comparison, fee comparison, and admission probability insights.</a:t>
            </a:r>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3EB3773-3F3E-E093-C3E4-CF51C17CB485}"/>
              </a:ext>
            </a:extLst>
          </p:cNvPr>
          <p:cNvSpPr txBox="1"/>
          <p:nvPr/>
        </p:nvSpPr>
        <p:spPr>
          <a:xfrm>
            <a:off x="914399" y="1264075"/>
            <a:ext cx="4876798" cy="1815882"/>
          </a:xfrm>
          <a:prstGeom prst="rect">
            <a:avLst/>
          </a:prstGeom>
          <a:noFill/>
        </p:spPr>
        <p:txBody>
          <a:bodyPr wrap="square" rtlCol="0">
            <a:spAutoFit/>
          </a:bodyPr>
          <a:lstStyle/>
          <a:p>
            <a:r>
              <a:rPr lang="en-IN" b="1" u="sng" dirty="0">
                <a:solidFill>
                  <a:schemeClr val="tx1"/>
                </a:solidFill>
                <a:highlight>
                  <a:srgbClr val="FFFF00"/>
                </a:highlight>
              </a:rPr>
              <a:t>Technology Used</a:t>
            </a:r>
          </a:p>
          <a:p>
            <a:pPr marL="342900" indent="-342900">
              <a:buFont typeface="Wingdings" panose="05000000000000000000" pitchFamily="2" charset="2"/>
              <a:buChar char="Ø"/>
            </a:pPr>
            <a:r>
              <a:rPr lang="en-IN" dirty="0">
                <a:solidFill>
                  <a:schemeClr val="tx1"/>
                </a:solidFill>
              </a:rPr>
              <a:t>Tech Stack</a:t>
            </a:r>
          </a:p>
          <a:p>
            <a:pPr marL="342900" indent="-342900">
              <a:buFont typeface="Wingdings" panose="05000000000000000000" pitchFamily="2" charset="2"/>
              <a:buChar char="Ø"/>
            </a:pPr>
            <a:r>
              <a:rPr lang="en-IN" dirty="0">
                <a:solidFill>
                  <a:schemeClr val="tx1"/>
                </a:solidFill>
              </a:rPr>
              <a:t>IBM watsonx Orchestrate </a:t>
            </a:r>
          </a:p>
          <a:p>
            <a:pPr marL="342900" indent="-342900">
              <a:buFont typeface="Wingdings" panose="05000000000000000000" pitchFamily="2" charset="2"/>
              <a:buChar char="Ø"/>
            </a:pPr>
            <a:r>
              <a:rPr lang="en-IN" dirty="0">
                <a:solidFill>
                  <a:schemeClr val="tx1"/>
                </a:solidFill>
              </a:rPr>
              <a:t>IBM watsonx.ai </a:t>
            </a:r>
          </a:p>
          <a:p>
            <a:pPr marL="342900" indent="-342900">
              <a:buFont typeface="Wingdings" panose="05000000000000000000" pitchFamily="2" charset="2"/>
              <a:buChar char="Ø"/>
            </a:pPr>
            <a:r>
              <a:rPr lang="en-IN" dirty="0">
                <a:solidFill>
                  <a:schemeClr val="tx1"/>
                </a:solidFill>
              </a:rPr>
              <a:t>IBM Granite Models </a:t>
            </a:r>
          </a:p>
          <a:p>
            <a:pPr marL="342900" indent="-342900">
              <a:buFont typeface="Wingdings" panose="05000000000000000000" pitchFamily="2" charset="2"/>
              <a:buChar char="Ø"/>
            </a:pPr>
            <a:r>
              <a:rPr lang="en-IN" dirty="0">
                <a:solidFill>
                  <a:schemeClr val="tx1"/>
                </a:solidFill>
              </a:rPr>
              <a:t>RAG (Retrieval-Augmented Generation) </a:t>
            </a:r>
          </a:p>
          <a:p>
            <a:pPr marL="342900" indent="-342900">
              <a:buFont typeface="Wingdings" panose="05000000000000000000" pitchFamily="2" charset="2"/>
              <a:buChar char="Ø"/>
            </a:pPr>
            <a:r>
              <a:rPr lang="en-IN" dirty="0">
                <a:solidFill>
                  <a:schemeClr val="tx1"/>
                </a:solidFill>
              </a:rPr>
              <a:t>Vector Database </a:t>
            </a:r>
          </a:p>
          <a:p>
            <a:pPr marL="342900" indent="-342900">
              <a:buFont typeface="Wingdings" panose="05000000000000000000" pitchFamily="2" charset="2"/>
              <a:buChar char="Ø"/>
            </a:pPr>
            <a:r>
              <a:rPr lang="en-IN" dirty="0">
                <a:solidFill>
                  <a:schemeClr val="tx1"/>
                </a:solidFill>
              </a:rPr>
              <a:t>PDF Knowledge Base </a:t>
            </a:r>
          </a:p>
        </p:txBody>
      </p:sp>
      <p:sp>
        <p:nvSpPr>
          <p:cNvPr id="9" name="TextBox 8">
            <a:extLst>
              <a:ext uri="{FF2B5EF4-FFF2-40B4-BE49-F238E27FC236}">
                <a16:creationId xmlns:a16="http://schemas.microsoft.com/office/drawing/2014/main" id="{22CAFC2C-4E17-C350-995B-3E9ACE70B11B}"/>
              </a:ext>
            </a:extLst>
          </p:cNvPr>
          <p:cNvSpPr txBox="1"/>
          <p:nvPr/>
        </p:nvSpPr>
        <p:spPr>
          <a:xfrm>
            <a:off x="668594" y="412955"/>
            <a:ext cx="3126658" cy="461665"/>
          </a:xfrm>
          <a:prstGeom prst="rect">
            <a:avLst/>
          </a:prstGeom>
          <a:noFill/>
        </p:spPr>
        <p:txBody>
          <a:bodyPr wrap="square" rtlCol="0">
            <a:spAutoFit/>
          </a:bodyPr>
          <a:lstStyle/>
          <a:p>
            <a:r>
              <a:rPr lang="en-US" sz="2400" b="1" u="sng" dirty="0">
                <a:solidFill>
                  <a:schemeClr val="tx1"/>
                </a:solidFill>
              </a:rPr>
              <a:t>Technology Used </a:t>
            </a:r>
            <a:endParaRPr lang="en-IN" sz="2400" b="1" u="sng" dirty="0">
              <a:solidFill>
                <a:schemeClr val="tx1"/>
              </a:solidFill>
            </a:endParaRPr>
          </a:p>
        </p:txBody>
      </p:sp>
      <p:sp>
        <p:nvSpPr>
          <p:cNvPr id="10" name="TextBox 9">
            <a:extLst>
              <a:ext uri="{FF2B5EF4-FFF2-40B4-BE49-F238E27FC236}">
                <a16:creationId xmlns:a16="http://schemas.microsoft.com/office/drawing/2014/main" id="{A3B9092D-3C64-19B6-9732-9185E73F3C1E}"/>
              </a:ext>
            </a:extLst>
          </p:cNvPr>
          <p:cNvSpPr txBox="1"/>
          <p:nvPr/>
        </p:nvSpPr>
        <p:spPr>
          <a:xfrm>
            <a:off x="6096000" y="1202520"/>
            <a:ext cx="3860777" cy="1877437"/>
          </a:xfrm>
          <a:prstGeom prst="rect">
            <a:avLst/>
          </a:prstGeom>
          <a:noFill/>
        </p:spPr>
        <p:txBody>
          <a:bodyPr wrap="square">
            <a:spAutoFit/>
          </a:bodyPr>
          <a:lstStyle/>
          <a:p>
            <a:r>
              <a:rPr lang="en-IN" b="1" u="sng" dirty="0">
                <a:solidFill>
                  <a:schemeClr val="tx1"/>
                </a:solidFill>
                <a:highlight>
                  <a:srgbClr val="FFFF00"/>
                </a:highlight>
              </a:rPr>
              <a:t>Knowledge Sources</a:t>
            </a:r>
          </a:p>
          <a:p>
            <a:pPr marL="285750" indent="-285750">
              <a:buFont typeface="Wingdings" panose="05000000000000000000" pitchFamily="2" charset="2"/>
              <a:buChar char="Ø"/>
            </a:pPr>
            <a:r>
              <a:rPr lang="en-IN" dirty="0">
                <a:solidFill>
                  <a:schemeClr val="tx1"/>
                </a:solidFill>
              </a:rPr>
              <a:t>JoSAA Bulletin </a:t>
            </a:r>
          </a:p>
          <a:p>
            <a:pPr marL="285750" indent="-285750">
              <a:buFont typeface="Wingdings" panose="05000000000000000000" pitchFamily="2" charset="2"/>
              <a:buChar char="Ø"/>
            </a:pPr>
            <a:r>
              <a:rPr lang="en-IN" dirty="0">
                <a:solidFill>
                  <a:schemeClr val="tx1"/>
                </a:solidFill>
              </a:rPr>
              <a:t>CSAB Bulletin </a:t>
            </a:r>
          </a:p>
          <a:p>
            <a:pPr marL="285750" indent="-285750">
              <a:buFont typeface="Wingdings" panose="05000000000000000000" pitchFamily="2" charset="2"/>
              <a:buChar char="Ø"/>
            </a:pPr>
            <a:r>
              <a:rPr lang="en-IN" dirty="0">
                <a:solidFill>
                  <a:schemeClr val="tx1"/>
                </a:solidFill>
              </a:rPr>
              <a:t>JAC Delhi </a:t>
            </a:r>
          </a:p>
          <a:p>
            <a:pPr marL="285750" indent="-285750">
              <a:buFont typeface="Wingdings" panose="05000000000000000000" pitchFamily="2" charset="2"/>
              <a:buChar char="Ø"/>
            </a:pPr>
            <a:r>
              <a:rPr lang="en-IN" dirty="0">
                <a:solidFill>
                  <a:schemeClr val="tx1"/>
                </a:solidFill>
              </a:rPr>
              <a:t>JAC Chandigarh </a:t>
            </a:r>
          </a:p>
          <a:p>
            <a:pPr marL="285750" indent="-285750">
              <a:buFont typeface="Wingdings" panose="05000000000000000000" pitchFamily="2" charset="2"/>
              <a:buChar char="Ø"/>
            </a:pPr>
            <a:r>
              <a:rPr lang="en-IN" dirty="0">
                <a:solidFill>
                  <a:schemeClr val="tx1"/>
                </a:solidFill>
              </a:rPr>
              <a:t>UPTAC 2026 Bulletin </a:t>
            </a:r>
          </a:p>
          <a:p>
            <a:pPr marL="285750" indent="-285750">
              <a:buFont typeface="Wingdings" panose="05000000000000000000" pitchFamily="2" charset="2"/>
              <a:buChar char="Ø"/>
            </a:pPr>
            <a:r>
              <a:rPr lang="en-IN" dirty="0">
                <a:solidFill>
                  <a:schemeClr val="tx1"/>
                </a:solidFill>
              </a:rPr>
              <a:t>Other official Counselling PDFs</a:t>
            </a:r>
          </a:p>
          <a:p>
            <a:endParaRPr lang="en-IN" sz="1800" dirty="0">
              <a:solidFill>
                <a:schemeClr val="tx1"/>
              </a:solidFill>
            </a:endParaRPr>
          </a:p>
        </p:txBody>
      </p:sp>
      <p:sp>
        <p:nvSpPr>
          <p:cNvPr id="11" name="TextBox 10">
            <a:extLst>
              <a:ext uri="{FF2B5EF4-FFF2-40B4-BE49-F238E27FC236}">
                <a16:creationId xmlns:a16="http://schemas.microsoft.com/office/drawing/2014/main" id="{135C1F0E-9D64-6797-E45B-E609764E7693}"/>
              </a:ext>
            </a:extLst>
          </p:cNvPr>
          <p:cNvSpPr txBox="1"/>
          <p:nvPr/>
        </p:nvSpPr>
        <p:spPr>
          <a:xfrm>
            <a:off x="1138081" y="3469412"/>
            <a:ext cx="9306231" cy="1492716"/>
          </a:xfrm>
          <a:prstGeom prst="rect">
            <a:avLst/>
          </a:prstGeom>
          <a:noFill/>
        </p:spPr>
        <p:txBody>
          <a:bodyPr wrap="square">
            <a:spAutoFit/>
          </a:bodyPr>
          <a:lstStyle/>
          <a:p>
            <a:pPr algn="ctr">
              <a:lnSpc>
                <a:spcPct val="150000"/>
              </a:lnSpc>
              <a:buNone/>
            </a:pPr>
            <a:r>
              <a:rPr lang="en-IN" b="1" u="sng" dirty="0">
                <a:solidFill>
                  <a:schemeClr val="tx1"/>
                </a:solidFill>
                <a:highlight>
                  <a:srgbClr val="FFFF00"/>
                </a:highlight>
              </a:rPr>
              <a:t>Why This Stack?</a:t>
            </a:r>
          </a:p>
          <a:p>
            <a:pPr algn="ctr"/>
            <a:r>
              <a:rPr lang="en-IN" b="1" dirty="0">
                <a:solidFill>
                  <a:schemeClr val="tx1"/>
                </a:solidFill>
              </a:rPr>
              <a:t>watsonx Orchestrate</a:t>
            </a:r>
            <a:r>
              <a:rPr lang="en-IN" dirty="0">
                <a:solidFill>
                  <a:schemeClr val="tx1"/>
                </a:solidFill>
              </a:rPr>
              <a:t> → To manage and automate the agent workflow </a:t>
            </a:r>
          </a:p>
          <a:p>
            <a:pPr algn="ctr"/>
            <a:r>
              <a:rPr lang="en-IN" b="1" dirty="0">
                <a:solidFill>
                  <a:schemeClr val="tx1"/>
                </a:solidFill>
              </a:rPr>
              <a:t>watsonx.ai</a:t>
            </a:r>
            <a:r>
              <a:rPr lang="en-IN" dirty="0">
                <a:solidFill>
                  <a:schemeClr val="tx1"/>
                </a:solidFill>
              </a:rPr>
              <a:t> → To power AI reasoning and response generation </a:t>
            </a:r>
          </a:p>
          <a:p>
            <a:pPr algn="ctr"/>
            <a:r>
              <a:rPr lang="en-IN" b="1" dirty="0">
                <a:solidFill>
                  <a:schemeClr val="tx1"/>
                </a:solidFill>
              </a:rPr>
              <a:t>Granite Models</a:t>
            </a:r>
            <a:r>
              <a:rPr lang="en-IN" dirty="0">
                <a:solidFill>
                  <a:schemeClr val="tx1"/>
                </a:solidFill>
              </a:rPr>
              <a:t> → For summarization, analysis, and intelligent answers </a:t>
            </a:r>
          </a:p>
          <a:p>
            <a:pPr algn="ctr"/>
            <a:r>
              <a:rPr lang="en-IN" b="1" dirty="0">
                <a:solidFill>
                  <a:schemeClr val="tx1"/>
                </a:solidFill>
              </a:rPr>
              <a:t>RAG</a:t>
            </a:r>
            <a:r>
              <a:rPr lang="en-IN" dirty="0">
                <a:solidFill>
                  <a:schemeClr val="tx1"/>
                </a:solidFill>
              </a:rPr>
              <a:t> → To retrieve accurate information from official admission PDFs </a:t>
            </a:r>
          </a:p>
          <a:p>
            <a:pPr algn="ctr"/>
            <a:r>
              <a:rPr lang="en-IN" b="1" dirty="0">
                <a:solidFill>
                  <a:schemeClr val="tx1"/>
                </a:solidFill>
              </a:rPr>
              <a:t>Vector Database</a:t>
            </a:r>
            <a:r>
              <a:rPr lang="en-IN" dirty="0">
                <a:solidFill>
                  <a:schemeClr val="tx1"/>
                </a:solidFill>
              </a:rPr>
              <a:t> → To store and search document embeddings efficiently</a:t>
            </a:r>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401205"/>
          </a:xfrm>
          <a:prstGeom prst="rect">
            <a:avLst/>
          </a:prstGeom>
          <a:noFill/>
        </p:spPr>
        <p:txBody>
          <a:bodyPr wrap="square" rtlCol="0">
            <a:spAutoFit/>
          </a:bodyPr>
          <a:lstStyle/>
          <a:p>
            <a:pPr fontAlgn="base"/>
            <a:endParaRPr lang="en-US" b="1" dirty="0"/>
          </a:p>
          <a:p>
            <a:r>
              <a:rPr lang="en-US" b="1" dirty="0"/>
              <a:t>Proposed Solution: AI-Powered College Admission Agent</a:t>
            </a:r>
          </a:p>
          <a:p>
            <a:r>
              <a:rPr lang="en-US" dirty="0"/>
              <a:t>The proposed solution is a </a:t>
            </a:r>
            <a:r>
              <a:rPr lang="en-US" b="1" dirty="0"/>
              <a:t>multi-agent AI-powered College Admission Agent</a:t>
            </a:r>
            <a:r>
              <a:rPr lang="en-US" dirty="0"/>
              <a:t> built using </a:t>
            </a:r>
            <a:r>
              <a:rPr lang="en-US" b="1" dirty="0"/>
              <a:t>IBM Orchestrate, IBM watsonx.ai, and IBM Granite models</a:t>
            </a:r>
            <a:r>
              <a:rPr lang="en-US" dirty="0"/>
              <a:t> to provide personalized, reliable admission guidance. The system addresses the challenge of college selection, cutoff analysis, and fee comparison through an intelligent modular architecture.</a:t>
            </a:r>
            <a:br>
              <a:rPr lang="en-US" dirty="0"/>
            </a:br>
            <a:r>
              <a:rPr lang="en-US" dirty="0"/>
              <a:t>At its core, the solution uses a </a:t>
            </a:r>
            <a:r>
              <a:rPr lang="en-US" b="1" dirty="0"/>
              <a:t>Retrieval-Augmented Generation (RAG)</a:t>
            </a:r>
            <a:r>
              <a:rPr lang="en-US" dirty="0"/>
              <a:t> pipeline to fetch accurate admission data from trusted sources such as </a:t>
            </a:r>
            <a:r>
              <a:rPr lang="en-US" b="1" dirty="0"/>
              <a:t>college brochures, counselling PDFs, cutoff lists, and fee documents</a:t>
            </a:r>
            <a:r>
              <a:rPr lang="en-US" dirty="0"/>
              <a:t>. This data is embedded and stored in a vector database, enabling the system to retrieve and summarize college details, admission criteria, and fee structures using Granite models.</a:t>
            </a:r>
            <a:br>
              <a:rPr lang="en-US" dirty="0"/>
            </a:br>
            <a:r>
              <a:rPr lang="en-US" dirty="0"/>
              <a:t>The system consists of four key agents:</a:t>
            </a:r>
            <a:br>
              <a:rPr lang="en-US" dirty="0"/>
            </a:br>
            <a:r>
              <a:rPr lang="en-US" b="1" dirty="0"/>
              <a:t>Institute Knowledge Agent</a:t>
            </a:r>
            <a:r>
              <a:rPr lang="en-US" dirty="0"/>
              <a:t> retrieves and summarizes brochure-based admission information using RAG.</a:t>
            </a:r>
            <a:br>
              <a:rPr lang="en-US" dirty="0"/>
            </a:br>
            <a:r>
              <a:rPr lang="en-US" b="1" dirty="0"/>
              <a:t>College Recommendation Agent</a:t>
            </a:r>
            <a:r>
              <a:rPr lang="en-US" dirty="0"/>
              <a:t> generates personalized college shortlists based on rank, category, budget, branch, and location.</a:t>
            </a:r>
            <a:br>
              <a:rPr lang="en-US" dirty="0"/>
            </a:br>
            <a:r>
              <a:rPr lang="en-US" b="1" dirty="0"/>
              <a:t>Admission Advisory Agent</a:t>
            </a:r>
            <a:r>
              <a:rPr lang="en-US" dirty="0"/>
              <a:t> provides counselling guidance, cutoff interpretation, and eligibility support.</a:t>
            </a:r>
            <a:br>
              <a:rPr lang="en-US" dirty="0"/>
            </a:br>
            <a:r>
              <a:rPr lang="en-US" b="1" dirty="0"/>
              <a:t>Document Query Agent</a:t>
            </a:r>
            <a:r>
              <a:rPr lang="en-US" dirty="0"/>
              <a:t> allows users to ask questions from uploaded brochures and admission documents and delivers instant answers.</a:t>
            </a:r>
            <a:br>
              <a:rPr lang="en-US" dirty="0"/>
            </a:br>
            <a:r>
              <a:rPr lang="en-US" b="1" dirty="0"/>
              <a:t>IBM Orchestrate</a:t>
            </a:r>
            <a:r>
              <a:rPr lang="en-US" dirty="0"/>
              <a:t> is used to coordinate agent workflows, while </a:t>
            </a:r>
            <a:r>
              <a:rPr lang="en-US" b="1" dirty="0"/>
              <a:t>watsonx.ai</a:t>
            </a:r>
            <a:r>
              <a:rPr lang="en-US" dirty="0"/>
              <a:t> ensures scalable model deployment, embeddings, and AI governance. </a:t>
            </a:r>
            <a:r>
              <a:rPr lang="en-US" b="1" dirty="0"/>
              <a:t>Granite models</a:t>
            </a:r>
            <a:r>
              <a:rPr lang="en-US" dirty="0"/>
              <a:t> power reasoning, summarization, and personalized admission recommendations.</a:t>
            </a:r>
            <a:br>
              <a:rPr lang="en-US" dirty="0"/>
            </a:br>
            <a:r>
              <a:rPr lang="en-US" dirty="0"/>
              <a:t>Overall, this solution delivers an </a:t>
            </a:r>
            <a:r>
              <a:rPr lang="en-US" b="1" dirty="0"/>
              <a:t>end-to-end intelligent admission assistant</a:t>
            </a:r>
            <a:r>
              <a:rPr lang="en-US" dirty="0"/>
              <a:t> that helps students make better college choices through personalized insights, document-grounded answers, and counselling support.</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IBM Orchestrate workflow -</a:t>
            </a:r>
            <a:endParaRPr sz="2400" b="1" dirty="0">
              <a:sym typeface="Times New Roman"/>
            </a:endParaRPr>
          </a:p>
        </p:txBody>
      </p:sp>
      <p:pic>
        <p:nvPicPr>
          <p:cNvPr id="7" name="Picture 6">
            <a:extLst>
              <a:ext uri="{FF2B5EF4-FFF2-40B4-BE49-F238E27FC236}">
                <a16:creationId xmlns:a16="http://schemas.microsoft.com/office/drawing/2014/main" id="{B248D95A-3096-9825-3E1C-6CC93862E710}"/>
              </a:ext>
            </a:extLst>
          </p:cNvPr>
          <p:cNvPicPr>
            <a:picLocks noChangeAspect="1"/>
          </p:cNvPicPr>
          <p:nvPr/>
        </p:nvPicPr>
        <p:blipFill>
          <a:blip r:embed="rId3"/>
          <a:stretch>
            <a:fillRect/>
          </a:stretch>
        </p:blipFill>
        <p:spPr>
          <a:xfrm>
            <a:off x="993057" y="1088275"/>
            <a:ext cx="9842091" cy="5446486"/>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8" name="Picture 7">
            <a:extLst>
              <a:ext uri="{FF2B5EF4-FFF2-40B4-BE49-F238E27FC236}">
                <a16:creationId xmlns:a16="http://schemas.microsoft.com/office/drawing/2014/main" id="{542EFF5F-565D-06C1-7020-5D9CC4380D57}"/>
              </a:ext>
            </a:extLst>
          </p:cNvPr>
          <p:cNvPicPr>
            <a:picLocks noChangeAspect="1"/>
          </p:cNvPicPr>
          <p:nvPr/>
        </p:nvPicPr>
        <p:blipFill>
          <a:blip r:embed="rId3"/>
          <a:stretch>
            <a:fillRect/>
          </a:stretch>
        </p:blipFill>
        <p:spPr>
          <a:xfrm>
            <a:off x="648602" y="1150374"/>
            <a:ext cx="10956189" cy="5136641"/>
          </a:xfrm>
          <a:prstGeom prst="rect">
            <a:avLst/>
          </a:prstGeom>
          <a:ln w="228600" cap="sq" cmpd="thickThin">
            <a:solidFill>
              <a:srgbClr val="000000"/>
            </a:solidFill>
            <a:prstDash val="solid"/>
            <a:miter lim="800000"/>
          </a:ln>
          <a:effectLst>
            <a:innerShdw blurRad="76200">
              <a:srgbClr val="000000"/>
            </a:innerShdw>
          </a:effectLst>
        </p:spPr>
      </p:pic>
      <p:sp>
        <p:nvSpPr>
          <p:cNvPr id="9" name="Title 8">
            <a:extLst>
              <a:ext uri="{FF2B5EF4-FFF2-40B4-BE49-F238E27FC236}">
                <a16:creationId xmlns:a16="http://schemas.microsoft.com/office/drawing/2014/main" id="{57D8D423-2C91-C4E6-F7F3-0F654303373A}"/>
              </a:ext>
            </a:extLst>
          </p:cNvPr>
          <p:cNvSpPr>
            <a:spLocks noGrp="1"/>
          </p:cNvSpPr>
          <p:nvPr>
            <p:ph type="title"/>
          </p:nvPr>
        </p:nvSpPr>
        <p:spPr>
          <a:xfrm>
            <a:off x="405581" y="212774"/>
            <a:ext cx="10515600" cy="539441"/>
          </a:xfrm>
        </p:spPr>
        <p:txBody>
          <a:bodyPr>
            <a:normAutofit/>
          </a:bodyPr>
          <a:lstStyle/>
          <a:p>
            <a:r>
              <a:rPr lang="en-US" sz="2400" b="1" u="sng" dirty="0"/>
              <a:t>P</a:t>
            </a:r>
            <a:r>
              <a:rPr lang="en-IN" sz="2400" b="1" u="sng" dirty="0"/>
              <a:t>roject image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0E1E23-8014-0910-55E5-677623160CB2}"/>
              </a:ext>
            </a:extLst>
          </p:cNvPr>
          <p:cNvPicPr>
            <a:picLocks noChangeAspect="1"/>
          </p:cNvPicPr>
          <p:nvPr/>
        </p:nvPicPr>
        <p:blipFill>
          <a:blip r:embed="rId2"/>
          <a:stretch>
            <a:fillRect/>
          </a:stretch>
        </p:blipFill>
        <p:spPr>
          <a:xfrm>
            <a:off x="690716" y="1159862"/>
            <a:ext cx="10990814" cy="5083622"/>
          </a:xfrm>
          <a:prstGeom prst="rect">
            <a:avLst/>
          </a:prstGeom>
          <a:ln w="228600" cap="sq" cmpd="thickThin">
            <a:solidFill>
              <a:srgbClr val="000000"/>
            </a:solidFill>
            <a:prstDash val="solid"/>
            <a:miter lim="800000"/>
          </a:ln>
          <a:effectLst>
            <a:innerShdw blurRad="76200">
              <a:srgbClr val="000000"/>
            </a:innerShdw>
          </a:effectLst>
        </p:spPr>
      </p:pic>
      <p:sp>
        <p:nvSpPr>
          <p:cNvPr id="6" name="Title 8">
            <a:extLst>
              <a:ext uri="{FF2B5EF4-FFF2-40B4-BE49-F238E27FC236}">
                <a16:creationId xmlns:a16="http://schemas.microsoft.com/office/drawing/2014/main" id="{DB864B3F-7F29-C3CD-10B1-9270A564192F}"/>
              </a:ext>
            </a:extLst>
          </p:cNvPr>
          <p:cNvSpPr>
            <a:spLocks noGrp="1"/>
          </p:cNvSpPr>
          <p:nvPr>
            <p:ph type="title"/>
          </p:nvPr>
        </p:nvSpPr>
        <p:spPr>
          <a:xfrm>
            <a:off x="405581" y="212774"/>
            <a:ext cx="10515600" cy="539441"/>
          </a:xfrm>
        </p:spPr>
        <p:txBody>
          <a:bodyPr>
            <a:normAutofit/>
          </a:bodyPr>
          <a:lstStyle/>
          <a:p>
            <a:r>
              <a:rPr lang="en-US" sz="2400" b="1" u="sng" dirty="0"/>
              <a:t>P</a:t>
            </a:r>
            <a:r>
              <a:rPr lang="en-IN" sz="2400" b="1" u="sng" dirty="0"/>
              <a:t>roject image</a:t>
            </a:r>
          </a:p>
        </p:txBody>
      </p:sp>
    </p:spTree>
    <p:extLst>
      <p:ext uri="{BB962C8B-B14F-4D97-AF65-F5344CB8AC3E}">
        <p14:creationId xmlns:p14="http://schemas.microsoft.com/office/powerpoint/2010/main" val="596321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u="sng" dirty="0"/>
              <a:t>Role of Agentic AI in the solution </a:t>
            </a:r>
            <a:endParaRPr lang="en-IN" sz="3200" b="1" u="sng"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970318"/>
          </a:xfrm>
          <a:prstGeom prst="rect">
            <a:avLst/>
          </a:prstGeom>
          <a:noFill/>
        </p:spPr>
        <p:txBody>
          <a:bodyPr wrap="square" rtlCol="0">
            <a:spAutoFit/>
          </a:bodyPr>
          <a:lstStyle/>
          <a:p>
            <a:r>
              <a:rPr lang="en-US" b="1" dirty="0"/>
              <a:t>Role of Agentic AI in College Admission Agent</a:t>
            </a:r>
          </a:p>
          <a:p>
            <a:r>
              <a:rPr lang="en-US" b="1" dirty="0"/>
              <a:t>Agentic AI</a:t>
            </a:r>
            <a:r>
              <a:rPr lang="en-US" dirty="0"/>
              <a:t> enables the College Admission Agent to function as an intelligent, autonomous system rather than a simple chatbot. Using </a:t>
            </a:r>
            <a:r>
              <a:rPr lang="en-US" b="1" dirty="0"/>
              <a:t>IBM watsonx.ai, IBM Orchestrate, and IBM Granite models</a:t>
            </a:r>
            <a:r>
              <a:rPr lang="en-US" dirty="0"/>
              <a:t>, it coordinates multiple specialized agents to deliver personalized admission guidance.</a:t>
            </a:r>
            <a:br>
              <a:rPr lang="en-US" dirty="0"/>
            </a:br>
            <a:r>
              <a:rPr lang="en-US" dirty="0"/>
              <a:t>Each agent performs a specific role—such as retrieving brochure data, analyzing cutoff trends, comparing fees, and recommending colleges—while working collaboratively. This </a:t>
            </a:r>
            <a:r>
              <a:rPr lang="en-US" b="1" dirty="0"/>
              <a:t>multi-agent approach</a:t>
            </a:r>
            <a:r>
              <a:rPr lang="en-US" dirty="0"/>
              <a:t> ensures accurate shortlist generation and better admission decisions.</a:t>
            </a:r>
            <a:br>
              <a:rPr lang="en-US" dirty="0"/>
            </a:br>
            <a:r>
              <a:rPr lang="en-US" dirty="0"/>
              <a:t>Agentic AI also brings </a:t>
            </a:r>
            <a:r>
              <a:rPr lang="en-US" b="1" dirty="0"/>
              <a:t>context awareness</a:t>
            </a:r>
            <a:r>
              <a:rPr lang="en-US" dirty="0"/>
              <a:t>, understanding user details like rank, category, preferred branch, budget, and location to generate tailored recommendations. It supports </a:t>
            </a:r>
            <a:r>
              <a:rPr lang="en-US" b="1" dirty="0"/>
              <a:t>real-time adaptation</a:t>
            </a:r>
            <a:r>
              <a:rPr lang="en-US" dirty="0"/>
              <a:t>, continuously updating suggestions based on new counselling rounds, uploaded brochures, and user inputs.</a:t>
            </a:r>
            <a:br>
              <a:rPr lang="en-US" dirty="0"/>
            </a:br>
            <a:r>
              <a:rPr lang="en-US" dirty="0"/>
              <a:t>Additionally, agents communicate with each other, enabling better comparison, reasoning, and decision-making.</a:t>
            </a:r>
            <a:br>
              <a:rPr lang="en-US" dirty="0"/>
            </a:br>
            <a:r>
              <a:rPr lang="en-US" dirty="0"/>
              <a:t>Overall, Agentic AI makes the system proactive, personalized, and admission-focused, acting like a </a:t>
            </a:r>
            <a:r>
              <a:rPr lang="en-US" b="1" dirty="0"/>
              <a:t>smart digital admission counsellor</a:t>
            </a:r>
            <a:r>
              <a:rPr lang="en-US" dirty="0"/>
              <a:t> that helps users choose the right college with confidence.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u="sng" dirty="0"/>
              <a:t>Novelty and Uniqueness</a:t>
            </a:r>
            <a:endParaRPr lang="en-IN" sz="2800" b="1" u="sng"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US" sz="1800" dirty="0"/>
              <a:t>The proposed College Admission Agent stands out by combining </a:t>
            </a:r>
            <a:r>
              <a:rPr lang="en-US" sz="1800" b="1" dirty="0"/>
              <a:t>Agentic AI, RAG, and personalization</a:t>
            </a:r>
            <a:r>
              <a:rPr lang="en-US" sz="1800" dirty="0"/>
              <a:t> into a single intelligent admission system.</a:t>
            </a:r>
          </a:p>
          <a:p>
            <a:r>
              <a:rPr lang="en-US" sz="1800" b="1" dirty="0"/>
              <a:t>Multi-Agent Intelligence</a:t>
            </a:r>
            <a:r>
              <a:rPr lang="en-US" sz="1800" dirty="0"/>
              <a:t> – Instead of a single chatbot, multiple specialized agents collaborate to deliver accurate and context-aware admission guidance.</a:t>
            </a:r>
            <a:br>
              <a:rPr lang="en-US" sz="1800" dirty="0"/>
            </a:br>
            <a:r>
              <a:rPr lang="en-US" sz="1800" b="1" dirty="0"/>
              <a:t>RAG-Based Accuracy</a:t>
            </a:r>
            <a:r>
              <a:rPr lang="en-US" sz="1800" dirty="0"/>
              <a:t> – Integrates brochure and admission document retrieval with AI generation, reducing misinformation and ensuring data-backed answers.</a:t>
            </a:r>
            <a:br>
              <a:rPr lang="en-US" sz="1800" dirty="0"/>
            </a:br>
            <a:r>
              <a:rPr lang="en-US" sz="1800" b="1" dirty="0"/>
              <a:t>Hyper-Personalization</a:t>
            </a:r>
            <a:r>
              <a:rPr lang="en-US" sz="1800" dirty="0"/>
              <a:t> – Tailors college recommendations based on rank, category, branch, budget, location, and counselling preferences.</a:t>
            </a:r>
            <a:br>
              <a:rPr lang="en-US" sz="1800" dirty="0"/>
            </a:br>
            <a:r>
              <a:rPr lang="en-US" sz="1800" b="1" dirty="0"/>
              <a:t>Admission Comparison Loop</a:t>
            </a:r>
            <a:r>
              <a:rPr lang="en-US" sz="1800" dirty="0"/>
              <a:t> – Continuously adapts shortlists based on cutoff trends, fee data, and user feedback.</a:t>
            </a:r>
            <a:br>
              <a:rPr lang="en-US" sz="1800" dirty="0"/>
            </a:br>
            <a:r>
              <a:rPr lang="en-US" sz="1800" b="1" dirty="0"/>
              <a:t>Document-Centric Input</a:t>
            </a:r>
            <a:r>
              <a:rPr lang="en-US" sz="1800" dirty="0"/>
              <a:t> – Supports brochure, PDF, and text-based admission data for reliable question answering.</a:t>
            </a:r>
            <a:br>
              <a:rPr lang="en-US" sz="1800" dirty="0"/>
            </a:br>
            <a:r>
              <a:rPr lang="en-US" sz="1800" b="1" dirty="0"/>
              <a:t>Counselling Support Focus</a:t>
            </a:r>
            <a:r>
              <a:rPr lang="en-US" sz="1800" dirty="0"/>
              <a:t> – Goes beyond basic search to provide branch-wise cutoff insights and admission strategy guidance.</a:t>
            </a:r>
            <a:br>
              <a:rPr lang="en-US" sz="1800" dirty="0"/>
            </a:br>
            <a:r>
              <a:rPr lang="en-US" sz="1800" b="1" dirty="0"/>
              <a:t>Scalable &amp; Enterprise-Ready</a:t>
            </a:r>
            <a:r>
              <a:rPr lang="en-US" sz="1800" dirty="0"/>
              <a:t> – Built on </a:t>
            </a:r>
            <a:r>
              <a:rPr lang="en-US" sz="1800" b="1" dirty="0"/>
              <a:t>IBM Orchestrate</a:t>
            </a:r>
            <a:r>
              <a:rPr lang="en-US" sz="1800" dirty="0"/>
              <a:t> with </a:t>
            </a:r>
            <a:r>
              <a:rPr lang="en-US" sz="1800" b="1" dirty="0"/>
              <a:t>IBM Granite models</a:t>
            </a:r>
            <a:r>
              <a:rPr lang="en-US" sz="1800" dirty="0"/>
              <a:t>, ensuring reliability, governance, and modular workflow management.</a:t>
            </a:r>
          </a:p>
          <a:p>
            <a:r>
              <a:rPr lang="en-US" sz="1800" dirty="0"/>
              <a:t>This makes the solution a </a:t>
            </a:r>
            <a:r>
              <a:rPr lang="en-US" sz="1800" b="1" dirty="0"/>
              <a:t>smart, adaptive, and data-grounded admission assistant</a:t>
            </a:r>
            <a:r>
              <a:rPr lang="en-US" sz="1800" dirty="0"/>
              <a:t>, not just a static college search tool.</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u="sng" dirty="0">
                <a:sym typeface="Times New Roman"/>
              </a:rPr>
              <a:t>Git Hub Link</a:t>
            </a:r>
            <a:endParaRPr sz="2400" b="1" u="sng" dirty="0">
              <a:sym typeface="Times New Roman"/>
            </a:endParaRPr>
          </a:p>
        </p:txBody>
      </p:sp>
      <p:sp>
        <p:nvSpPr>
          <p:cNvPr id="2" name="TextBox 1">
            <a:extLst>
              <a:ext uri="{FF2B5EF4-FFF2-40B4-BE49-F238E27FC236}">
                <a16:creationId xmlns:a16="http://schemas.microsoft.com/office/drawing/2014/main" id="{488B7696-624F-FB04-2CB3-E2637C24EF4F}"/>
              </a:ext>
            </a:extLst>
          </p:cNvPr>
          <p:cNvSpPr txBox="1"/>
          <p:nvPr/>
        </p:nvSpPr>
        <p:spPr>
          <a:xfrm>
            <a:off x="1218724" y="1402804"/>
            <a:ext cx="9556955" cy="3313728"/>
          </a:xfrm>
          <a:prstGeom prst="rect">
            <a:avLst/>
          </a:prstGeom>
          <a:noFill/>
        </p:spPr>
        <p:txBody>
          <a:bodyPr wrap="square">
            <a:spAutoFit/>
          </a:bodyPr>
          <a:lstStyle/>
          <a:p>
            <a:r>
              <a:rPr lang="en-IN" b="1" dirty="0">
                <a:solidFill>
                  <a:schemeClr val="tx1"/>
                </a:solidFill>
              </a:rPr>
              <a:t>Repository Details</a:t>
            </a:r>
          </a:p>
          <a:p>
            <a:r>
              <a:rPr lang="en-IN" dirty="0">
                <a:solidFill>
                  <a:schemeClr val="tx1"/>
                </a:solidFill>
              </a:rPr>
              <a:t>A public GitHub repository has been created to host all project resources, source files, and documentation related to the </a:t>
            </a:r>
            <a:r>
              <a:rPr lang="en-IN" b="1" dirty="0">
                <a:solidFill>
                  <a:schemeClr val="tx1"/>
                </a:solidFill>
              </a:rPr>
              <a:t>College Admission Agent (RAG Based) </a:t>
            </a:r>
            <a:r>
              <a:rPr lang="en-IN" dirty="0">
                <a:solidFill>
                  <a:schemeClr val="tx1"/>
                </a:solidFill>
              </a:rPr>
              <a:t>project.</a:t>
            </a:r>
          </a:p>
          <a:p>
            <a:endParaRPr lang="en-IN" dirty="0">
              <a:solidFill>
                <a:schemeClr val="tx1"/>
              </a:solidFill>
            </a:endParaRPr>
          </a:p>
          <a:p>
            <a:r>
              <a:rPr lang="en-IN" b="1" dirty="0">
                <a:solidFill>
                  <a:schemeClr val="tx1"/>
                </a:solidFill>
                <a:highlight>
                  <a:srgbClr val="FFFF00"/>
                </a:highlight>
              </a:rPr>
              <a:t>Repository Contents</a:t>
            </a:r>
          </a:p>
          <a:p>
            <a:endParaRPr lang="en-IN" dirty="0">
              <a:solidFill>
                <a:schemeClr val="tx1"/>
              </a:solidFill>
            </a:endParaRPr>
          </a:p>
          <a:p>
            <a:pPr>
              <a:spcAft>
                <a:spcPts val="400"/>
              </a:spcAft>
            </a:pPr>
            <a:r>
              <a:rPr lang="en-IN" b="1" dirty="0">
                <a:solidFill>
                  <a:schemeClr val="tx1"/>
                </a:solidFill>
              </a:rPr>
              <a:t>✅ Problem Statement PDF</a:t>
            </a:r>
          </a:p>
          <a:p>
            <a:pPr>
              <a:spcAft>
                <a:spcPts val="400"/>
              </a:spcAft>
            </a:pPr>
            <a:r>
              <a:rPr lang="en-IN" b="1" dirty="0">
                <a:solidFill>
                  <a:schemeClr val="tx1"/>
                </a:solidFill>
              </a:rPr>
              <a:t>✅ Project Presentation (PPTX)</a:t>
            </a:r>
          </a:p>
          <a:p>
            <a:pPr>
              <a:spcAft>
                <a:spcPts val="400"/>
              </a:spcAft>
            </a:pPr>
            <a:r>
              <a:rPr lang="en-IN" b="1" dirty="0">
                <a:solidFill>
                  <a:schemeClr val="tx1"/>
                </a:solidFill>
              </a:rPr>
              <a:t>✅ Knowledge Base Documents (JoSAA, CSAB, JAC Delhi, JAC Chandigarh, UPTAC, etc.)</a:t>
            </a:r>
          </a:p>
          <a:p>
            <a:pPr>
              <a:spcAft>
                <a:spcPts val="400"/>
              </a:spcAft>
            </a:pPr>
            <a:r>
              <a:rPr lang="en-IN" b="1" dirty="0">
                <a:solidFill>
                  <a:schemeClr val="tx1"/>
                </a:solidFill>
              </a:rPr>
              <a:t>✅ Additional Project Files and Resources</a:t>
            </a:r>
          </a:p>
          <a:p>
            <a:endParaRPr lang="en-IN" dirty="0">
              <a:solidFill>
                <a:schemeClr val="tx1"/>
              </a:solidFill>
            </a:endParaRPr>
          </a:p>
          <a:p>
            <a:r>
              <a:rPr lang="en-IN" b="1" dirty="0">
                <a:solidFill>
                  <a:schemeClr val="tx1"/>
                </a:solidFill>
                <a:highlight>
                  <a:srgbClr val="FFFF00"/>
                </a:highlight>
              </a:rPr>
              <a:t>GitHub Repository URL</a:t>
            </a:r>
          </a:p>
          <a:p>
            <a:endParaRPr lang="en-IN" dirty="0">
              <a:solidFill>
                <a:schemeClr val="tx1"/>
              </a:solidFill>
            </a:endParaRPr>
          </a:p>
          <a:p>
            <a:r>
              <a:rPr lang="en-IN" dirty="0">
                <a:solidFill>
                  <a:schemeClr val="tx1"/>
                </a:solidFill>
              </a:rPr>
              <a:t>🔗 https://github.com/codecraftpython-dev/College-Admission-Agent</a:t>
            </a:r>
          </a:p>
        </p:txBody>
      </p: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a:t>
            </a:r>
            <a:r>
              <a:rPr lang="en-US" sz="2400" b="1" dirty="0">
                <a:sym typeface="Times New Roman"/>
              </a:rPr>
              <a:t> </a:t>
            </a:r>
            <a:r>
              <a:rPr lang="en-US" sz="2800" b="1" dirty="0">
                <a:sym typeface="Times New Roman"/>
              </a:rPr>
              <a:t>Scope</a:t>
            </a:r>
            <a:r>
              <a:rPr lang="en-US" sz="2400" b="1" dirty="0">
                <a:sym typeface="Times New Roman"/>
              </a:rPr>
              <a:t>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1850" b="1" dirty="0">
                <a:latin typeface="Times New Roman" panose="02020603050405020304" pitchFamily="18" charset="0"/>
                <a:cs typeface="Times New Roman" panose="02020603050405020304" pitchFamily="18" charset="0"/>
              </a:rPr>
              <a:t>1. Integration with Counselling Portals &amp; Seat Matrix</a:t>
            </a:r>
          </a:p>
          <a:p>
            <a:r>
              <a:rPr lang="en-US" sz="1850" dirty="0">
                <a:latin typeface="Times New Roman" panose="02020603050405020304" pitchFamily="18" charset="0"/>
                <a:cs typeface="Times New Roman" panose="02020603050405020304" pitchFamily="18" charset="0"/>
              </a:rPr>
              <a:t>The system can be integrated with counselling portals, seat matrix updates, and deadline alerts to collect real-time admission information such as round-wise cutoffs, vacant seats, and reporting schedules. This will enable the College Admission Agent to provide more accurate and dynamic recommendations based on actual counselling progress and institute-wise changes.</a:t>
            </a:r>
          </a:p>
          <a:p>
            <a:endParaRPr lang="en-US" sz="1850" dirty="0">
              <a:latin typeface="Times New Roman" panose="02020603050405020304" pitchFamily="18" charset="0"/>
              <a:cs typeface="Times New Roman" panose="02020603050405020304" pitchFamily="18" charset="0"/>
            </a:endParaRPr>
          </a:p>
          <a:p>
            <a:r>
              <a:rPr lang="en-US" sz="1850" b="1" dirty="0">
                <a:latin typeface="Times New Roman" panose="02020603050405020304" pitchFamily="18" charset="0"/>
                <a:cs typeface="Times New Roman" panose="02020603050405020304" pitchFamily="18" charset="0"/>
              </a:rPr>
              <a:t>2. AI-Powered Voice Assistant &amp; Multilingual Support</a:t>
            </a:r>
          </a:p>
          <a:p>
            <a:r>
              <a:rPr lang="en-US" sz="1850" dirty="0">
                <a:latin typeface="Times New Roman" panose="02020603050405020304" pitchFamily="18" charset="0"/>
                <a:cs typeface="Times New Roman" panose="02020603050405020304" pitchFamily="18" charset="0"/>
              </a:rPr>
              <a:t>Enhancing the system with a voice-enabled assistant and support for multiple languages will improve accessibility. Students can interact naturally in their preferred language, making the solution more inclusive and suitable for diverse users, especially during admission seasons where quick guidance is needed.</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1201</TotalTime>
  <Words>1304</Words>
  <Application>Microsoft Office PowerPoint</Application>
  <PresentationFormat>Widescreen</PresentationFormat>
  <Paragraphs>81</Paragraphs>
  <Slides>13</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Project image</vt:lpstr>
      <vt:lpstr>Project image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Vijay Kumar</cp:lastModifiedBy>
  <cp:revision>39</cp:revision>
  <dcterms:created xsi:type="dcterms:W3CDTF">2025-07-08T05:06:56Z</dcterms:created>
  <dcterms:modified xsi:type="dcterms:W3CDTF">2026-06-02T13:41:37Z</dcterms:modified>
</cp:coreProperties>
</file>